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dec Pro Heavy" charset="1" panose="00000A00000000000000"/>
      <p:regular r:id="rId16"/>
    </p:embeddedFont>
    <p:embeddedFont>
      <p:font typeface="Codec Pro Bold" charset="1" panose="00000600000000000000"/>
      <p:regular r:id="rId17"/>
    </p:embeddedFont>
    <p:embeddedFont>
      <p:font typeface="Nanum Square" charset="1" panose="020B0600000101010101"/>
      <p:regular r:id="rId18"/>
    </p:embeddedFont>
    <p:embeddedFont>
      <p:font typeface="Codec Pro Ultra-Bold" charset="1" panose="00000700000000000000"/>
      <p:regular r:id="rId19"/>
    </p:embeddedFont>
    <p:embeddedFont>
      <p:font typeface="Nanum Square Bold" charset="1" panose="020B0600000101010101"/>
      <p:regular r:id="rId20"/>
    </p:embeddedFont>
    <p:embeddedFont>
      <p:font typeface="Nanum Square Ultra-Bold" charset="1" panose="020B0600000101010101"/>
      <p:regular r:id="rId21"/>
    </p:embeddedFont>
    <p:embeddedFont>
      <p:font typeface="Codec Pro Light" charset="1" panose="00000300000000000000"/>
      <p:regular r:id="rId22"/>
    </p:embeddedFont>
    <p:embeddedFont>
      <p:font typeface="Codec Pr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6BC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9834" y="3639592"/>
            <a:ext cx="12668332" cy="288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79"/>
              </a:lnSpc>
              <a:spcBef>
                <a:spcPct val="0"/>
              </a:spcBef>
            </a:pPr>
            <a:r>
              <a:rPr lang="en-US" b="true" sz="15556">
                <a:solidFill>
                  <a:srgbClr val="FFFFFF"/>
                </a:solidFill>
                <a:latin typeface="Codec Pro Heavy"/>
                <a:ea typeface="Codec Pro Heavy"/>
                <a:cs typeface="Codec Pro Heavy"/>
                <a:sym typeface="Codec Pro Heavy"/>
              </a:rPr>
              <a:t>PITCH DECK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2809834" y="3739267"/>
            <a:ext cx="367341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804755" y="6623933"/>
            <a:ext cx="367341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321972" y="1343734"/>
            <a:ext cx="1394925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96125" y="1797111"/>
            <a:ext cx="88931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문제 정의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83205" y="1287528"/>
            <a:ext cx="532750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34300" y="2728660"/>
            <a:ext cx="1511620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25147" y="3182037"/>
            <a:ext cx="88931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해결 방안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4183" y="2672454"/>
            <a:ext cx="648839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13406" y="4113587"/>
            <a:ext cx="1431591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</a:t>
            </a: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ODUCT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16204" y="4566964"/>
            <a:ext cx="1097337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서비스 소개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55105" y="4057381"/>
            <a:ext cx="645149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374186" y="5498513"/>
            <a:ext cx="3376031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Market Opp</a:t>
            </a: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ORTUNITY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829444" y="5951890"/>
            <a:ext cx="88931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시장 기회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49886" y="5442307"/>
            <a:ext cx="666027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82601" y="6883440"/>
            <a:ext cx="2564579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M</a:t>
            </a: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ODEL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26407" y="7336817"/>
            <a:ext cx="88931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수익 구조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52923" y="6827234"/>
            <a:ext cx="653879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29248" y="8268366"/>
            <a:ext cx="3815344" cy="44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Competitive A</a:t>
            </a:r>
            <a:r>
              <a:rPr lang="en-US" b="true" sz="2399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DVANTAGE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23820" y="8721743"/>
            <a:ext cx="88931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경쟁 우위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55510" y="8212160"/>
            <a:ext cx="643529" cy="78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59"/>
              </a:lnSpc>
              <a:spcBef>
                <a:spcPct val="0"/>
              </a:spcBef>
            </a:pPr>
            <a:r>
              <a:rPr lang="en-US" b="true" sz="4256">
                <a:solidFill>
                  <a:srgbClr val="06BC7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06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603931" y="2442584"/>
            <a:ext cx="6492240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603931" y="3827510"/>
            <a:ext cx="6492240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0603931" y="5212437"/>
            <a:ext cx="6492240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0603931" y="6597363"/>
            <a:ext cx="6492240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0603931" y="7982290"/>
            <a:ext cx="6492240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61788" y="538716"/>
            <a:ext cx="2016824" cy="67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larana fit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0838" y="1263316"/>
            <a:ext cx="5307955" cy="31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  <a:spcBef>
                <a:spcPct val="0"/>
              </a:spcBef>
            </a:pPr>
            <a:r>
              <a:rPr lang="en-US" b="true" sz="1801">
                <a:solidFill>
                  <a:srgbClr val="010101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AI 기반 개인 맞춤 운동 구독 플랫폼 라라나핏 투자 제안서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1472" y="3129727"/>
            <a:ext cx="8953413" cy="5820715"/>
            <a:chOff x="0" y="0"/>
            <a:chExt cx="2358100" cy="15330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8100" cy="1533028"/>
            </a:xfrm>
            <a:custGeom>
              <a:avLst/>
              <a:gdLst/>
              <a:ahLst/>
              <a:cxnLst/>
              <a:rect r="r" b="b" t="t" l="l"/>
              <a:pathLst>
                <a:path h="1533028" w="2358100">
                  <a:moveTo>
                    <a:pt x="17294" y="0"/>
                  </a:moveTo>
                  <a:lnTo>
                    <a:pt x="2340807" y="0"/>
                  </a:lnTo>
                  <a:cubicBezTo>
                    <a:pt x="2345393" y="0"/>
                    <a:pt x="2349792" y="1822"/>
                    <a:pt x="2353035" y="5065"/>
                  </a:cubicBezTo>
                  <a:cubicBezTo>
                    <a:pt x="2356278" y="8308"/>
                    <a:pt x="2358100" y="12707"/>
                    <a:pt x="2358100" y="17294"/>
                  </a:cubicBezTo>
                  <a:lnTo>
                    <a:pt x="2358100" y="1515734"/>
                  </a:lnTo>
                  <a:cubicBezTo>
                    <a:pt x="2358100" y="1520321"/>
                    <a:pt x="2356278" y="1524719"/>
                    <a:pt x="2353035" y="1527963"/>
                  </a:cubicBezTo>
                  <a:cubicBezTo>
                    <a:pt x="2349792" y="1531206"/>
                    <a:pt x="2345393" y="1533028"/>
                    <a:pt x="2340807" y="1533028"/>
                  </a:cubicBezTo>
                  <a:lnTo>
                    <a:pt x="17294" y="1533028"/>
                  </a:lnTo>
                  <a:cubicBezTo>
                    <a:pt x="7743" y="1533028"/>
                    <a:pt x="0" y="1525285"/>
                    <a:pt x="0" y="1515734"/>
                  </a:cubicBezTo>
                  <a:lnTo>
                    <a:pt x="0" y="17294"/>
                  </a:lnTo>
                  <a:cubicBezTo>
                    <a:pt x="0" y="12707"/>
                    <a:pt x="1822" y="8308"/>
                    <a:pt x="5065" y="5065"/>
                  </a:cubicBezTo>
                  <a:cubicBezTo>
                    <a:pt x="8308" y="1822"/>
                    <a:pt x="12707" y="0"/>
                    <a:pt x="1729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8100" cy="15711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982238" y="4098980"/>
            <a:ext cx="4850210" cy="485021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6916957" y="6940279"/>
            <a:ext cx="185364" cy="18536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C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16957" y="7334274"/>
            <a:ext cx="185364" cy="185364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5D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562759" y="1335954"/>
            <a:ext cx="1162483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2739" y="1795862"/>
            <a:ext cx="6462523" cy="5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운동, 시작은 쉽지만 지속은 어렵습니다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16621" y="6879285"/>
            <a:ext cx="1059521" cy="25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6BC70"/>
                </a:solidFill>
                <a:latin typeface="Nanum Square"/>
                <a:ea typeface="Nanum Square"/>
                <a:cs typeface="Nanum Square"/>
                <a:sym typeface="Nanum Square"/>
              </a:rPr>
              <a:t>지속 동기 부족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37656" y="6869760"/>
            <a:ext cx="499115" cy="26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62.5%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82223" y="7250385"/>
            <a:ext cx="354549" cy="26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9D9D9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25%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16621" y="7273279"/>
            <a:ext cx="853394" cy="25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D9D9D"/>
                </a:solidFill>
                <a:latin typeface="Nanum Square"/>
                <a:ea typeface="Nanum Square"/>
                <a:cs typeface="Nanum Square"/>
                <a:sym typeface="Nanum Square"/>
              </a:rPr>
              <a:t>개인화</a:t>
            </a:r>
            <a:r>
              <a:rPr lang="en-US" sz="1400">
                <a:solidFill>
                  <a:srgbClr val="9D9D9D"/>
                </a:solidFill>
                <a:latin typeface="Nanum Square"/>
                <a:ea typeface="Nanum Square"/>
                <a:cs typeface="Nanum Square"/>
                <a:sym typeface="Nanum Square"/>
              </a:rPr>
              <a:t> 부족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51184" y="4956172"/>
            <a:ext cx="4224419" cy="995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대한민국</a:t>
            </a:r>
            <a:r>
              <a:rPr lang="en-US" sz="27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성인 </a:t>
            </a:r>
            <a:r>
              <a:rPr lang="en-US" b="true" sz="2799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67%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운동 시작 후 </a:t>
            </a:r>
            <a:r>
              <a:rPr lang="en-US" b="true" sz="2799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3개월 이내</a:t>
            </a:r>
            <a:r>
              <a:rPr lang="en-US" sz="2799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중단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68950" y="3665780"/>
            <a:ext cx="3258456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운동 지속을 방해하는 핵심 요인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16621" y="7694932"/>
            <a:ext cx="691577" cy="25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9D9D9D"/>
                </a:solidFill>
                <a:latin typeface="Nanum Square"/>
                <a:ea typeface="Nanum Square"/>
                <a:cs typeface="Nanum Square"/>
                <a:sym typeface="Nanum Square"/>
              </a:rPr>
              <a:t>자세</a:t>
            </a:r>
            <a:r>
              <a:rPr lang="en-US" sz="1400">
                <a:solidFill>
                  <a:srgbClr val="9D9D9D"/>
                </a:solidFill>
                <a:latin typeface="Nanum Square"/>
                <a:ea typeface="Nanum Square"/>
                <a:cs typeface="Nanum Square"/>
                <a:sym typeface="Nanum Square"/>
              </a:rPr>
              <a:t> 문제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16957" y="7755927"/>
            <a:ext cx="185364" cy="18536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D9D9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275472" y="7631010"/>
            <a:ext cx="461300" cy="26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b="true" sz="1400">
                <a:solidFill>
                  <a:srgbClr val="9D9D9D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12.5%</a:t>
            </a:r>
          </a:p>
        </p:txBody>
      </p:sp>
      <p:sp>
        <p:nvSpPr>
          <p:cNvPr name="AutoShape 25" id="25"/>
          <p:cNvSpPr/>
          <p:nvPr/>
        </p:nvSpPr>
        <p:spPr>
          <a:xfrm>
            <a:off x="8437812" y="7028199"/>
            <a:ext cx="638175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8437812" y="7426956"/>
            <a:ext cx="638175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8437812" y="7825713"/>
            <a:ext cx="638175" cy="0"/>
          </a:xfrm>
          <a:prstGeom prst="line">
            <a:avLst/>
          </a:prstGeom>
          <a:ln cap="flat" w="9525">
            <a:solidFill>
              <a:srgbClr val="06BC7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1451184" y="6325659"/>
            <a:ext cx="5215344" cy="81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운동을 시작하는 것보다 꾸준히 이어가는 것이 더 큰 장벽으로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작용하며, 개인에게 맞지 않는 방식과 즉각적인 피드백의 부재가 반복적인 중단으로 이어지고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671456"/>
            <a:ext cx="4987631" cy="3529694"/>
            <a:chOff x="0" y="0"/>
            <a:chExt cx="1313615" cy="9296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13615" cy="929631"/>
            </a:xfrm>
            <a:custGeom>
              <a:avLst/>
              <a:gdLst/>
              <a:ahLst/>
              <a:cxnLst/>
              <a:rect r="r" b="b" t="t" l="l"/>
              <a:pathLst>
                <a:path h="929631" w="1313615">
                  <a:moveTo>
                    <a:pt x="31044" y="0"/>
                  </a:moveTo>
                  <a:lnTo>
                    <a:pt x="1282570" y="0"/>
                  </a:lnTo>
                  <a:cubicBezTo>
                    <a:pt x="1299716" y="0"/>
                    <a:pt x="1313615" y="13899"/>
                    <a:pt x="1313615" y="31044"/>
                  </a:cubicBezTo>
                  <a:lnTo>
                    <a:pt x="1313615" y="898587"/>
                  </a:lnTo>
                  <a:cubicBezTo>
                    <a:pt x="1313615" y="915732"/>
                    <a:pt x="1299716" y="929631"/>
                    <a:pt x="1282570" y="929631"/>
                  </a:cubicBezTo>
                  <a:lnTo>
                    <a:pt x="31044" y="929631"/>
                  </a:lnTo>
                  <a:cubicBezTo>
                    <a:pt x="13899" y="929631"/>
                    <a:pt x="0" y="915732"/>
                    <a:pt x="0" y="898587"/>
                  </a:cubicBezTo>
                  <a:lnTo>
                    <a:pt x="0" y="31044"/>
                  </a:lnTo>
                  <a:cubicBezTo>
                    <a:pt x="0" y="13899"/>
                    <a:pt x="13899" y="0"/>
                    <a:pt x="310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13615" cy="96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5248" y="2560719"/>
            <a:ext cx="4534536" cy="687269"/>
            <a:chOff x="0" y="0"/>
            <a:chExt cx="1194281" cy="1810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4281" cy="181009"/>
            </a:xfrm>
            <a:custGeom>
              <a:avLst/>
              <a:gdLst/>
              <a:ahLst/>
              <a:cxnLst/>
              <a:rect r="r" b="b" t="t" l="l"/>
              <a:pathLst>
                <a:path h="181009" w="1194281">
                  <a:moveTo>
                    <a:pt x="90505" y="0"/>
                  </a:moveTo>
                  <a:lnTo>
                    <a:pt x="1103776" y="0"/>
                  </a:lnTo>
                  <a:cubicBezTo>
                    <a:pt x="1153761" y="0"/>
                    <a:pt x="1194281" y="40520"/>
                    <a:pt x="1194281" y="90505"/>
                  </a:cubicBezTo>
                  <a:lnTo>
                    <a:pt x="1194281" y="90505"/>
                  </a:lnTo>
                  <a:cubicBezTo>
                    <a:pt x="1194281" y="114508"/>
                    <a:pt x="1184746" y="137528"/>
                    <a:pt x="1167773" y="154501"/>
                  </a:cubicBezTo>
                  <a:cubicBezTo>
                    <a:pt x="1150800" y="171474"/>
                    <a:pt x="1127780" y="181009"/>
                    <a:pt x="1103776" y="181009"/>
                  </a:cubicBezTo>
                  <a:lnTo>
                    <a:pt x="90505" y="181009"/>
                  </a:lnTo>
                  <a:cubicBezTo>
                    <a:pt x="66501" y="181009"/>
                    <a:pt x="43481" y="171474"/>
                    <a:pt x="26508" y="154501"/>
                  </a:cubicBezTo>
                  <a:cubicBezTo>
                    <a:pt x="9535" y="137528"/>
                    <a:pt x="0" y="114508"/>
                    <a:pt x="0" y="90505"/>
                  </a:cubicBezTo>
                  <a:lnTo>
                    <a:pt x="0" y="90505"/>
                  </a:lnTo>
                  <a:cubicBezTo>
                    <a:pt x="0" y="66501"/>
                    <a:pt x="9535" y="43481"/>
                    <a:pt x="26508" y="26508"/>
                  </a:cubicBezTo>
                  <a:cubicBezTo>
                    <a:pt x="43481" y="9535"/>
                    <a:pt x="66501" y="0"/>
                    <a:pt x="90505" y="0"/>
                  </a:cubicBezTo>
                  <a:close/>
                </a:path>
              </a:pathLst>
            </a:custGeom>
            <a:solidFill>
              <a:srgbClr val="DAF4E5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4281" cy="219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0846" y="4391792"/>
            <a:ext cx="4703339" cy="687269"/>
            <a:chOff x="0" y="0"/>
            <a:chExt cx="1238740" cy="1810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8740" cy="181009"/>
            </a:xfrm>
            <a:custGeom>
              <a:avLst/>
              <a:gdLst/>
              <a:ahLst/>
              <a:cxnLst/>
              <a:rect r="r" b="b" t="t" l="l"/>
              <a:pathLst>
                <a:path h="181009" w="1238740">
                  <a:moveTo>
                    <a:pt x="90505" y="0"/>
                  </a:moveTo>
                  <a:lnTo>
                    <a:pt x="1148235" y="0"/>
                  </a:lnTo>
                  <a:cubicBezTo>
                    <a:pt x="1172238" y="0"/>
                    <a:pt x="1195259" y="9535"/>
                    <a:pt x="1212231" y="26508"/>
                  </a:cubicBezTo>
                  <a:cubicBezTo>
                    <a:pt x="1229204" y="43481"/>
                    <a:pt x="1238740" y="66501"/>
                    <a:pt x="1238740" y="90505"/>
                  </a:cubicBezTo>
                  <a:lnTo>
                    <a:pt x="1238740" y="90505"/>
                  </a:lnTo>
                  <a:cubicBezTo>
                    <a:pt x="1238740" y="114508"/>
                    <a:pt x="1229204" y="137528"/>
                    <a:pt x="1212231" y="154501"/>
                  </a:cubicBezTo>
                  <a:cubicBezTo>
                    <a:pt x="1195259" y="171474"/>
                    <a:pt x="1172238" y="181009"/>
                    <a:pt x="1148235" y="181009"/>
                  </a:cubicBezTo>
                  <a:lnTo>
                    <a:pt x="90505" y="181009"/>
                  </a:lnTo>
                  <a:cubicBezTo>
                    <a:pt x="66501" y="181009"/>
                    <a:pt x="43481" y="171474"/>
                    <a:pt x="26508" y="154501"/>
                  </a:cubicBezTo>
                  <a:cubicBezTo>
                    <a:pt x="9535" y="137528"/>
                    <a:pt x="0" y="114508"/>
                    <a:pt x="0" y="90505"/>
                  </a:cubicBezTo>
                  <a:lnTo>
                    <a:pt x="0" y="90505"/>
                  </a:lnTo>
                  <a:cubicBezTo>
                    <a:pt x="0" y="66501"/>
                    <a:pt x="9535" y="43481"/>
                    <a:pt x="26508" y="26508"/>
                  </a:cubicBezTo>
                  <a:cubicBezTo>
                    <a:pt x="43481" y="9535"/>
                    <a:pt x="66501" y="0"/>
                    <a:pt x="90505" y="0"/>
                  </a:cubicBezTo>
                  <a:close/>
                </a:path>
              </a:pathLst>
            </a:custGeom>
            <a:solidFill>
              <a:srgbClr val="DAF4E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38740" cy="219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71304" y="3475923"/>
            <a:ext cx="5502423" cy="687269"/>
            <a:chOff x="0" y="0"/>
            <a:chExt cx="1449198" cy="1810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9198" cy="181009"/>
            </a:xfrm>
            <a:custGeom>
              <a:avLst/>
              <a:gdLst/>
              <a:ahLst/>
              <a:cxnLst/>
              <a:rect r="r" b="b" t="t" l="l"/>
              <a:pathLst>
                <a:path h="181009" w="1449198">
                  <a:moveTo>
                    <a:pt x="90505" y="0"/>
                  </a:moveTo>
                  <a:lnTo>
                    <a:pt x="1358693" y="0"/>
                  </a:lnTo>
                  <a:cubicBezTo>
                    <a:pt x="1408678" y="0"/>
                    <a:pt x="1449198" y="40520"/>
                    <a:pt x="1449198" y="90505"/>
                  </a:cubicBezTo>
                  <a:lnTo>
                    <a:pt x="1449198" y="90505"/>
                  </a:lnTo>
                  <a:cubicBezTo>
                    <a:pt x="1449198" y="114508"/>
                    <a:pt x="1439663" y="137528"/>
                    <a:pt x="1422690" y="154501"/>
                  </a:cubicBezTo>
                  <a:cubicBezTo>
                    <a:pt x="1405717" y="171474"/>
                    <a:pt x="1382697" y="181009"/>
                    <a:pt x="1358693" y="181009"/>
                  </a:cubicBezTo>
                  <a:lnTo>
                    <a:pt x="90505" y="181009"/>
                  </a:lnTo>
                  <a:cubicBezTo>
                    <a:pt x="66501" y="181009"/>
                    <a:pt x="43481" y="171474"/>
                    <a:pt x="26508" y="154501"/>
                  </a:cubicBezTo>
                  <a:cubicBezTo>
                    <a:pt x="9535" y="137528"/>
                    <a:pt x="0" y="114508"/>
                    <a:pt x="0" y="90505"/>
                  </a:cubicBezTo>
                  <a:lnTo>
                    <a:pt x="0" y="90505"/>
                  </a:lnTo>
                  <a:cubicBezTo>
                    <a:pt x="0" y="66501"/>
                    <a:pt x="9535" y="43481"/>
                    <a:pt x="26508" y="26508"/>
                  </a:cubicBezTo>
                  <a:cubicBezTo>
                    <a:pt x="43481" y="9535"/>
                    <a:pt x="66501" y="0"/>
                    <a:pt x="90505" y="0"/>
                  </a:cubicBezTo>
                  <a:close/>
                </a:path>
              </a:pathLst>
            </a:custGeom>
            <a:solidFill>
              <a:srgbClr val="DAF4E5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49198" cy="219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50184" y="5671456"/>
            <a:ext cx="4987631" cy="3529694"/>
            <a:chOff x="0" y="0"/>
            <a:chExt cx="1313615" cy="929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3615" cy="929631"/>
            </a:xfrm>
            <a:custGeom>
              <a:avLst/>
              <a:gdLst/>
              <a:ahLst/>
              <a:cxnLst/>
              <a:rect r="r" b="b" t="t" l="l"/>
              <a:pathLst>
                <a:path h="929631" w="1313615">
                  <a:moveTo>
                    <a:pt x="31044" y="0"/>
                  </a:moveTo>
                  <a:lnTo>
                    <a:pt x="1282570" y="0"/>
                  </a:lnTo>
                  <a:cubicBezTo>
                    <a:pt x="1299716" y="0"/>
                    <a:pt x="1313615" y="13899"/>
                    <a:pt x="1313615" y="31044"/>
                  </a:cubicBezTo>
                  <a:lnTo>
                    <a:pt x="1313615" y="898587"/>
                  </a:lnTo>
                  <a:cubicBezTo>
                    <a:pt x="1313615" y="915732"/>
                    <a:pt x="1299716" y="929631"/>
                    <a:pt x="1282570" y="929631"/>
                  </a:cubicBezTo>
                  <a:lnTo>
                    <a:pt x="31044" y="929631"/>
                  </a:lnTo>
                  <a:cubicBezTo>
                    <a:pt x="13899" y="929631"/>
                    <a:pt x="0" y="915732"/>
                    <a:pt x="0" y="898587"/>
                  </a:cubicBezTo>
                  <a:lnTo>
                    <a:pt x="0" y="31044"/>
                  </a:lnTo>
                  <a:cubicBezTo>
                    <a:pt x="0" y="13899"/>
                    <a:pt x="13899" y="0"/>
                    <a:pt x="310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13615" cy="96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271669" y="5671456"/>
            <a:ext cx="4987631" cy="3529694"/>
            <a:chOff x="0" y="0"/>
            <a:chExt cx="1313615" cy="9296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3615" cy="929631"/>
            </a:xfrm>
            <a:custGeom>
              <a:avLst/>
              <a:gdLst/>
              <a:ahLst/>
              <a:cxnLst/>
              <a:rect r="r" b="b" t="t" l="l"/>
              <a:pathLst>
                <a:path h="929631" w="1313615">
                  <a:moveTo>
                    <a:pt x="31044" y="0"/>
                  </a:moveTo>
                  <a:lnTo>
                    <a:pt x="1282570" y="0"/>
                  </a:lnTo>
                  <a:cubicBezTo>
                    <a:pt x="1299716" y="0"/>
                    <a:pt x="1313615" y="13899"/>
                    <a:pt x="1313615" y="31044"/>
                  </a:cubicBezTo>
                  <a:lnTo>
                    <a:pt x="1313615" y="898587"/>
                  </a:lnTo>
                  <a:cubicBezTo>
                    <a:pt x="1313615" y="915732"/>
                    <a:pt x="1299716" y="929631"/>
                    <a:pt x="1282570" y="929631"/>
                  </a:cubicBezTo>
                  <a:lnTo>
                    <a:pt x="31044" y="929631"/>
                  </a:lnTo>
                  <a:cubicBezTo>
                    <a:pt x="13899" y="929631"/>
                    <a:pt x="0" y="915732"/>
                    <a:pt x="0" y="898587"/>
                  </a:cubicBezTo>
                  <a:lnTo>
                    <a:pt x="0" y="31044"/>
                  </a:lnTo>
                  <a:cubicBezTo>
                    <a:pt x="0" y="13899"/>
                    <a:pt x="13899" y="0"/>
                    <a:pt x="310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13615" cy="9677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64722" y="2560719"/>
            <a:ext cx="3758557" cy="687269"/>
            <a:chOff x="0" y="0"/>
            <a:chExt cx="5011409" cy="91635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011409" cy="916359"/>
              <a:chOff x="0" y="0"/>
              <a:chExt cx="989908" cy="18100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89908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989908">
                    <a:moveTo>
                      <a:pt x="90505" y="0"/>
                    </a:moveTo>
                    <a:lnTo>
                      <a:pt x="899403" y="0"/>
                    </a:lnTo>
                    <a:cubicBezTo>
                      <a:pt x="949388" y="0"/>
                      <a:pt x="989908" y="40520"/>
                      <a:pt x="989908" y="90505"/>
                    </a:cubicBezTo>
                    <a:lnTo>
                      <a:pt x="989908" y="90505"/>
                    </a:lnTo>
                    <a:cubicBezTo>
                      <a:pt x="989908" y="114508"/>
                      <a:pt x="980373" y="137528"/>
                      <a:pt x="963400" y="154501"/>
                    </a:cubicBezTo>
                    <a:cubicBezTo>
                      <a:pt x="946427" y="171474"/>
                      <a:pt x="923407" y="181009"/>
                      <a:pt x="899403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989908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82634" y="263032"/>
              <a:ext cx="4046141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“제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몸 상태에 맞춘 루틴이 필요해요.”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010454" y="2560719"/>
            <a:ext cx="3510061" cy="687269"/>
            <a:chOff x="0" y="0"/>
            <a:chExt cx="4680081" cy="91635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680081" cy="916359"/>
              <a:chOff x="0" y="0"/>
              <a:chExt cx="924461" cy="18100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24461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924461">
                    <a:moveTo>
                      <a:pt x="90505" y="0"/>
                    </a:moveTo>
                    <a:lnTo>
                      <a:pt x="833956" y="0"/>
                    </a:lnTo>
                    <a:cubicBezTo>
                      <a:pt x="857959" y="0"/>
                      <a:pt x="880979" y="9535"/>
                      <a:pt x="897952" y="26508"/>
                    </a:cubicBezTo>
                    <a:cubicBezTo>
                      <a:pt x="914925" y="43481"/>
                      <a:pt x="924461" y="66501"/>
                      <a:pt x="924461" y="90505"/>
                    </a:cubicBezTo>
                    <a:lnTo>
                      <a:pt x="924461" y="90505"/>
                    </a:lnTo>
                    <a:cubicBezTo>
                      <a:pt x="924461" y="114508"/>
                      <a:pt x="914925" y="137528"/>
                      <a:pt x="897952" y="154501"/>
                    </a:cubicBezTo>
                    <a:cubicBezTo>
                      <a:pt x="880979" y="171474"/>
                      <a:pt x="857959" y="181009"/>
                      <a:pt x="833956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924461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84710" y="263032"/>
              <a:ext cx="3910662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“누가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옆에서 관리해주면 좋겠어요.”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74477" y="3475923"/>
            <a:ext cx="5139046" cy="687269"/>
            <a:chOff x="0" y="0"/>
            <a:chExt cx="6852061" cy="916359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6852061" cy="916359"/>
              <a:chOff x="0" y="0"/>
              <a:chExt cx="1353493" cy="18100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353493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1353493">
                    <a:moveTo>
                      <a:pt x="90505" y="0"/>
                    </a:moveTo>
                    <a:lnTo>
                      <a:pt x="1262989" y="0"/>
                    </a:lnTo>
                    <a:cubicBezTo>
                      <a:pt x="1312973" y="0"/>
                      <a:pt x="1353493" y="40520"/>
                      <a:pt x="1353493" y="90505"/>
                    </a:cubicBezTo>
                    <a:lnTo>
                      <a:pt x="1353493" y="90505"/>
                    </a:lnTo>
                    <a:cubicBezTo>
                      <a:pt x="1353493" y="114508"/>
                      <a:pt x="1343958" y="137528"/>
                      <a:pt x="1326985" y="154501"/>
                    </a:cubicBezTo>
                    <a:cubicBezTo>
                      <a:pt x="1310012" y="171474"/>
                      <a:pt x="1286992" y="181009"/>
                      <a:pt x="1262989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353493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72378" y="263032"/>
              <a:ext cx="5907304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“허리가 안 좋은데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어떤 운동을 해야 할지 모르겠어요.”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98086" y="3475923"/>
            <a:ext cx="3934797" cy="687269"/>
            <a:chOff x="0" y="0"/>
            <a:chExt cx="5246396" cy="91635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5246396" cy="916359"/>
              <a:chOff x="0" y="0"/>
              <a:chExt cx="1036325" cy="181009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036325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1036325">
                    <a:moveTo>
                      <a:pt x="90505" y="0"/>
                    </a:moveTo>
                    <a:lnTo>
                      <a:pt x="945821" y="0"/>
                    </a:lnTo>
                    <a:cubicBezTo>
                      <a:pt x="969824" y="0"/>
                      <a:pt x="992844" y="9535"/>
                      <a:pt x="1009817" y="26508"/>
                    </a:cubicBezTo>
                    <a:cubicBezTo>
                      <a:pt x="1026790" y="43481"/>
                      <a:pt x="1036325" y="66501"/>
                      <a:pt x="1036325" y="90505"/>
                    </a:cubicBezTo>
                    <a:lnTo>
                      <a:pt x="1036325" y="90505"/>
                    </a:lnTo>
                    <a:cubicBezTo>
                      <a:pt x="1036325" y="114508"/>
                      <a:pt x="1026790" y="137528"/>
                      <a:pt x="1009817" y="154501"/>
                    </a:cubicBezTo>
                    <a:cubicBezTo>
                      <a:pt x="992844" y="171474"/>
                      <a:pt x="969824" y="181009"/>
                      <a:pt x="945821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1036325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476871" y="263032"/>
              <a:ext cx="4292654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“의지가 약한 건지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자꾸 포기하게 돼요.”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785888" y="4391792"/>
            <a:ext cx="4716225" cy="687269"/>
            <a:chOff x="0" y="0"/>
            <a:chExt cx="6288300" cy="916359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6288300" cy="916359"/>
              <a:chOff x="0" y="0"/>
              <a:chExt cx="1242133" cy="18100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242133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1242133">
                    <a:moveTo>
                      <a:pt x="90505" y="0"/>
                    </a:moveTo>
                    <a:lnTo>
                      <a:pt x="1151629" y="0"/>
                    </a:lnTo>
                    <a:cubicBezTo>
                      <a:pt x="1201613" y="0"/>
                      <a:pt x="1242133" y="40520"/>
                      <a:pt x="1242133" y="90505"/>
                    </a:cubicBezTo>
                    <a:lnTo>
                      <a:pt x="1242133" y="90505"/>
                    </a:lnTo>
                    <a:cubicBezTo>
                      <a:pt x="1242133" y="114508"/>
                      <a:pt x="1232598" y="137528"/>
                      <a:pt x="1215625" y="154501"/>
                    </a:cubicBezTo>
                    <a:cubicBezTo>
                      <a:pt x="1198652" y="171474"/>
                      <a:pt x="1175632" y="181009"/>
                      <a:pt x="1151629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1242133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504751" y="263032"/>
              <a:ext cx="5278798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“남들이 좋다는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 운동이 저한테는 오히려 아파요.”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789673" y="4391792"/>
            <a:ext cx="3951623" cy="687269"/>
            <a:chOff x="0" y="0"/>
            <a:chExt cx="5268830" cy="916359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5268830" cy="916359"/>
              <a:chOff x="0" y="0"/>
              <a:chExt cx="1040757" cy="181009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40757" cy="181009"/>
              </a:xfrm>
              <a:custGeom>
                <a:avLst/>
                <a:gdLst/>
                <a:ahLst/>
                <a:cxnLst/>
                <a:rect r="r" b="b" t="t" l="l"/>
                <a:pathLst>
                  <a:path h="181009" w="1040757">
                    <a:moveTo>
                      <a:pt x="90505" y="0"/>
                    </a:moveTo>
                    <a:lnTo>
                      <a:pt x="950252" y="0"/>
                    </a:lnTo>
                    <a:cubicBezTo>
                      <a:pt x="974255" y="0"/>
                      <a:pt x="997275" y="9535"/>
                      <a:pt x="1014248" y="26508"/>
                    </a:cubicBezTo>
                    <a:cubicBezTo>
                      <a:pt x="1031221" y="43481"/>
                      <a:pt x="1040757" y="66501"/>
                      <a:pt x="1040757" y="90505"/>
                    </a:cubicBezTo>
                    <a:lnTo>
                      <a:pt x="1040757" y="90505"/>
                    </a:lnTo>
                    <a:cubicBezTo>
                      <a:pt x="1040757" y="114508"/>
                      <a:pt x="1031221" y="137528"/>
                      <a:pt x="1014248" y="154501"/>
                    </a:cubicBezTo>
                    <a:cubicBezTo>
                      <a:pt x="997275" y="171474"/>
                      <a:pt x="974255" y="181009"/>
                      <a:pt x="950252" y="181009"/>
                    </a:cubicBezTo>
                    <a:lnTo>
                      <a:pt x="90505" y="181009"/>
                    </a:lnTo>
                    <a:cubicBezTo>
                      <a:pt x="66501" y="181009"/>
                      <a:pt x="43481" y="171474"/>
                      <a:pt x="26508" y="154501"/>
                    </a:cubicBezTo>
                    <a:cubicBezTo>
                      <a:pt x="9535" y="137528"/>
                      <a:pt x="0" y="114508"/>
                      <a:pt x="0" y="90505"/>
                    </a:cubicBezTo>
                    <a:lnTo>
                      <a:pt x="0" y="90505"/>
                    </a:lnTo>
                    <a:cubicBezTo>
                      <a:pt x="0" y="66501"/>
                      <a:pt x="9535" y="43481"/>
                      <a:pt x="26508" y="26508"/>
                    </a:cubicBezTo>
                    <a:cubicBezTo>
                      <a:pt x="43481" y="9535"/>
                      <a:pt x="66501" y="0"/>
                      <a:pt x="90505" y="0"/>
                    </a:cubicBezTo>
                    <a:close/>
                  </a:path>
                </a:pathLst>
              </a:custGeom>
              <a:solidFill>
                <a:srgbClr val="DAF4E5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040757" cy="2191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454218" y="263032"/>
              <a:ext cx="4360393" cy="352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“</a:t>
              </a:r>
              <a:r>
                <a:rPr lang="en-US" sz="1600">
                  <a:solidFill>
                    <a:srgbClr val="000000"/>
                  </a:solidFill>
                  <a:latin typeface="Nanum Square"/>
                  <a:ea typeface="Nanum Square"/>
                  <a:cs typeface="Nanum Square"/>
                  <a:sym typeface="Nanum Square"/>
                </a:rPr>
                <a:t>운동은 매번 시작만 하고 오래 못 가요.”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2973000" y="6843592"/>
            <a:ext cx="1099030" cy="1099030"/>
          </a:xfrm>
          <a:custGeom>
            <a:avLst/>
            <a:gdLst/>
            <a:ahLst/>
            <a:cxnLst/>
            <a:rect r="r" b="b" t="t" l="l"/>
            <a:pathLst>
              <a:path h="1099030" w="1099030">
                <a:moveTo>
                  <a:pt x="0" y="0"/>
                </a:moveTo>
                <a:lnTo>
                  <a:pt x="1099031" y="0"/>
                </a:lnTo>
                <a:lnTo>
                  <a:pt x="1099031" y="1099030"/>
                </a:lnTo>
                <a:lnTo>
                  <a:pt x="0" y="1099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8682760" y="6931867"/>
            <a:ext cx="922479" cy="922479"/>
          </a:xfrm>
          <a:custGeom>
            <a:avLst/>
            <a:gdLst/>
            <a:ahLst/>
            <a:cxnLst/>
            <a:rect r="r" b="b" t="t" l="l"/>
            <a:pathLst>
              <a:path h="922479" w="922479">
                <a:moveTo>
                  <a:pt x="0" y="0"/>
                </a:moveTo>
                <a:lnTo>
                  <a:pt x="922480" y="0"/>
                </a:lnTo>
                <a:lnTo>
                  <a:pt x="922480" y="922480"/>
                </a:lnTo>
                <a:lnTo>
                  <a:pt x="0" y="9224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286394" y="6879462"/>
            <a:ext cx="958181" cy="1027289"/>
          </a:xfrm>
          <a:custGeom>
            <a:avLst/>
            <a:gdLst/>
            <a:ahLst/>
            <a:cxnLst/>
            <a:rect r="r" b="b" t="t" l="l"/>
            <a:pathLst>
              <a:path h="1027289" w="958181">
                <a:moveTo>
                  <a:pt x="0" y="0"/>
                </a:moveTo>
                <a:lnTo>
                  <a:pt x="958181" y="0"/>
                </a:lnTo>
                <a:lnTo>
                  <a:pt x="958181" y="1027290"/>
                </a:lnTo>
                <a:lnTo>
                  <a:pt x="0" y="10272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779014" y="1104927"/>
            <a:ext cx="6901836" cy="5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larana fit은 운동을 데이터로 해결합니다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79014" y="641323"/>
            <a:ext cx="1259695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SOLUTION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742216" y="6117286"/>
            <a:ext cx="1560598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AI 자세 분석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604745" y="6117286"/>
            <a:ext cx="3078510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통증 기반 루틴</a:t>
            </a: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자동 설계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441117" y="6117286"/>
            <a:ext cx="2648735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지속률 관리 알고리즘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35409" y="2748468"/>
            <a:ext cx="3774214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혼자 운동하면 제 자세가 맞는지 모르겠어요.”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71587" y="3663672"/>
            <a:ext cx="4901857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“영상 따라 해도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제가 제대로 하고 있는 건지 확신이 없어요.”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42966" y="4579541"/>
            <a:ext cx="3959098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“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잘못하다가 어깨나 허리를 다칠까 봐 걱정돼요.”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839160" y="8206027"/>
            <a:ext cx="3366712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카메라 기반 AI가 실시간으로 자세를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분석해 잘못된 동작을 바로 교정해줘요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264722" y="8206027"/>
            <a:ext cx="3758557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현재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통증 부위와 몸 상태를 분석해 나에게 맞는 운동 루틴을 자동으로 설계해줘요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010454" y="8206027"/>
            <a:ext cx="3510061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운동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기록과 패턴을 분석해 포기하지 않도록 맞춤 동기 관리와 알림을 제공해줘요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5105" y="-35241"/>
            <a:ext cx="7592895" cy="10322241"/>
            <a:chOff x="0" y="0"/>
            <a:chExt cx="1176338" cy="159918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176338" cy="1599185"/>
            </a:xfrm>
            <a:custGeom>
              <a:avLst/>
              <a:gdLst/>
              <a:ahLst/>
              <a:cxnLst/>
              <a:rect r="r" b="b" t="t" l="l"/>
              <a:pathLst>
                <a:path h="1599185" w="1176338">
                  <a:moveTo>
                    <a:pt x="1176338" y="0"/>
                  </a:moveTo>
                  <a:lnTo>
                    <a:pt x="0" y="0"/>
                  </a:lnTo>
                  <a:lnTo>
                    <a:pt x="0" y="1599185"/>
                  </a:lnTo>
                  <a:lnTo>
                    <a:pt x="1176338" y="1599185"/>
                  </a:lnTo>
                  <a:close/>
                </a:path>
              </a:pathLst>
            </a:custGeom>
            <a:blipFill>
              <a:blip r:embed="rId2"/>
              <a:stretch>
                <a:fillRect l="0" t="-5203" r="0" b="-520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950475" y="0"/>
            <a:ext cx="3086100" cy="10287000"/>
            <a:chOff x="0" y="0"/>
            <a:chExt cx="812800" cy="2709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010101">
                    <a:alpha val="100000"/>
                  </a:srgbClr>
                </a:gs>
                <a:gs pos="50000">
                  <a:srgbClr val="010101">
                    <a:alpha val="63500"/>
                  </a:srgbClr>
                </a:gs>
                <a:gs pos="100000">
                  <a:srgbClr val="010101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069983" y="4536842"/>
            <a:ext cx="6940667" cy="18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빠르고 정확하게 설계하는</a:t>
            </a:r>
          </a:p>
          <a:p>
            <a:pPr algn="l">
              <a:lnSpc>
                <a:spcPts val="7279"/>
              </a:lnSpc>
            </a:pPr>
            <a:r>
              <a:rPr lang="en-US" b="true" sz="5199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나만의 운동 루틴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6658" y="3843834"/>
            <a:ext cx="1762801" cy="59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6BC7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larana fit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7911" y="3031532"/>
            <a:ext cx="3778762" cy="37787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F4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15716" y="3031532"/>
            <a:ext cx="3778762" cy="377876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F4E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39636" y="1104927"/>
            <a:ext cx="7903923" cy="5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각자의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몸에 최적화된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운동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솔루션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을 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구현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합니다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9014" y="641323"/>
            <a:ext cx="1193060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</a:t>
            </a: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ODUCT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93522" y="3031532"/>
            <a:ext cx="3778762" cy="377876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F4E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371327" y="3031532"/>
            <a:ext cx="3778762" cy="3778762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AF4E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980286" y="4475156"/>
            <a:ext cx="2094012" cy="83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실시간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자세 교정 피드백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1324" y="4475156"/>
            <a:ext cx="2447546" cy="83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통증 부위 선택 기반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루틴 추천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90059" y="4475156"/>
            <a:ext cx="1185687" cy="834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운동 기록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자동 분석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13702" y="4684699"/>
            <a:ext cx="2094012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주간</a:t>
            </a: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리포트 제공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43936" y="8068526"/>
            <a:ext cx="3366712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운동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중 잘못된 동작을 즉시 감지해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바로 수정할 수 있도록 알려줘요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15716" y="8068526"/>
            <a:ext cx="3778762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현재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불편한 부위를 선택하면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그에 맞는 안전한 운동 루틴을 제안해줘요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9547" y="8068526"/>
            <a:ext cx="3366712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운동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시간과 수행 데이터를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자동으로 분석해 변화 흐름을 보여줘요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77352" y="8068526"/>
            <a:ext cx="3366712" cy="5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일주일간의 운동</a:t>
            </a: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성과와 개선 포인트를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한눈에 정리해줘요</a:t>
            </a:r>
          </a:p>
        </p:txBody>
      </p:sp>
      <p:sp>
        <p:nvSpPr>
          <p:cNvPr name="AutoShape 24" id="24"/>
          <p:cNvSpPr/>
          <p:nvPr/>
        </p:nvSpPr>
        <p:spPr>
          <a:xfrm>
            <a:off x="3008242" y="5865603"/>
            <a:ext cx="0" cy="1889381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7124147" y="5865603"/>
            <a:ext cx="0" cy="1889381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>
            <a:off x="11240053" y="5865603"/>
            <a:ext cx="0" cy="1889381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15355958" y="5865603"/>
            <a:ext cx="0" cy="1889381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722" y="2206632"/>
            <a:ext cx="11922637" cy="7189662"/>
            <a:chOff x="0" y="0"/>
            <a:chExt cx="3140118" cy="18935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0118" cy="1893574"/>
            </a:xfrm>
            <a:custGeom>
              <a:avLst/>
              <a:gdLst/>
              <a:ahLst/>
              <a:cxnLst/>
              <a:rect r="r" b="b" t="t" l="l"/>
              <a:pathLst>
                <a:path h="1893574" w="3140118">
                  <a:moveTo>
                    <a:pt x="12987" y="0"/>
                  </a:moveTo>
                  <a:lnTo>
                    <a:pt x="3127131" y="0"/>
                  </a:lnTo>
                  <a:cubicBezTo>
                    <a:pt x="3134304" y="0"/>
                    <a:pt x="3140118" y="5814"/>
                    <a:pt x="3140118" y="12987"/>
                  </a:cubicBezTo>
                  <a:lnTo>
                    <a:pt x="3140118" y="1880587"/>
                  </a:lnTo>
                  <a:cubicBezTo>
                    <a:pt x="3140118" y="1887759"/>
                    <a:pt x="3134304" y="1893574"/>
                    <a:pt x="3127131" y="1893574"/>
                  </a:cubicBezTo>
                  <a:lnTo>
                    <a:pt x="12987" y="1893574"/>
                  </a:lnTo>
                  <a:cubicBezTo>
                    <a:pt x="9543" y="1893574"/>
                    <a:pt x="6239" y="1892205"/>
                    <a:pt x="3804" y="1889770"/>
                  </a:cubicBezTo>
                  <a:cubicBezTo>
                    <a:pt x="1368" y="1887334"/>
                    <a:pt x="0" y="1884031"/>
                    <a:pt x="0" y="1880587"/>
                  </a:cubicBezTo>
                  <a:lnTo>
                    <a:pt x="0" y="12987"/>
                  </a:lnTo>
                  <a:cubicBezTo>
                    <a:pt x="0" y="5814"/>
                    <a:pt x="5814" y="0"/>
                    <a:pt x="12987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40118" cy="1931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4841074" y="4284641"/>
            <a:ext cx="5114712" cy="0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7638973" y="5826828"/>
            <a:ext cx="2316814" cy="0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sp>
        <p:nvSpPr>
          <p:cNvPr name="AutoShape 7" id="7"/>
          <p:cNvSpPr/>
          <p:nvPr/>
        </p:nvSpPr>
        <p:spPr>
          <a:xfrm>
            <a:off x="6546116" y="7575910"/>
            <a:ext cx="3409670" cy="0"/>
          </a:xfrm>
          <a:prstGeom prst="line">
            <a:avLst/>
          </a:prstGeom>
          <a:ln cap="flat" w="38100">
            <a:solidFill>
              <a:srgbClr val="06BC70"/>
            </a:solidFill>
            <a:prstDash val="sysDot"/>
            <a:headEnd type="none" len="sm" w="sm"/>
            <a:tailEnd type="oval" len="lg" w="lg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41252" y="1802597"/>
            <a:ext cx="8793188" cy="8793188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12849734" y="2206632"/>
            <a:ext cx="4844544" cy="7189662"/>
            <a:chOff x="0" y="0"/>
            <a:chExt cx="1275929" cy="18935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75929" cy="1893574"/>
            </a:xfrm>
            <a:custGeom>
              <a:avLst/>
              <a:gdLst/>
              <a:ahLst/>
              <a:cxnLst/>
              <a:rect r="r" b="b" t="t" l="l"/>
              <a:pathLst>
                <a:path h="1893574" w="1275929">
                  <a:moveTo>
                    <a:pt x="31961" y="0"/>
                  </a:moveTo>
                  <a:lnTo>
                    <a:pt x="1243968" y="0"/>
                  </a:lnTo>
                  <a:cubicBezTo>
                    <a:pt x="1261620" y="0"/>
                    <a:pt x="1275929" y="14310"/>
                    <a:pt x="1275929" y="31961"/>
                  </a:cubicBezTo>
                  <a:lnTo>
                    <a:pt x="1275929" y="1861612"/>
                  </a:lnTo>
                  <a:cubicBezTo>
                    <a:pt x="1275929" y="1879264"/>
                    <a:pt x="1261620" y="1893574"/>
                    <a:pt x="1243968" y="1893574"/>
                  </a:cubicBezTo>
                  <a:lnTo>
                    <a:pt x="31961" y="1893574"/>
                  </a:lnTo>
                  <a:cubicBezTo>
                    <a:pt x="14310" y="1893574"/>
                    <a:pt x="0" y="1879264"/>
                    <a:pt x="0" y="1861612"/>
                  </a:cubicBezTo>
                  <a:lnTo>
                    <a:pt x="0" y="31961"/>
                  </a:lnTo>
                  <a:cubicBezTo>
                    <a:pt x="0" y="14310"/>
                    <a:pt x="14310" y="0"/>
                    <a:pt x="31961" y="0"/>
                  </a:cubicBezTo>
                  <a:close/>
                </a:path>
              </a:pathLst>
            </a:custGeom>
            <a:solidFill>
              <a:srgbClr val="06BC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75929" cy="1931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1751" y="8720157"/>
            <a:ext cx="952026" cy="25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단위: 천억 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9014" y="641323"/>
            <a:ext cx="2813460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Market Opp</a:t>
            </a: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ORTUNITY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22021" y="3534064"/>
            <a:ext cx="1313679" cy="97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1010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59030" y="4373561"/>
            <a:ext cx="839661" cy="52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101"/>
                </a:solidFill>
                <a:latin typeface="Codec Pro"/>
                <a:ea typeface="Codec Pro"/>
                <a:cs typeface="Codec Pro"/>
                <a:sym typeface="Codec Pro"/>
              </a:rPr>
              <a:t>1,200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11207" y="6095396"/>
            <a:ext cx="535308" cy="52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101"/>
                </a:solidFill>
                <a:latin typeface="Codec Pro"/>
                <a:ea typeface="Codec Pro"/>
                <a:cs typeface="Codec Pro"/>
                <a:sym typeface="Codec Pro"/>
              </a:rPr>
              <a:t>180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80750" y="7853724"/>
            <a:ext cx="396221" cy="528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10101"/>
                </a:solidFill>
                <a:latin typeface="Codec Pro"/>
                <a:ea typeface="Codec Pro"/>
                <a:cs typeface="Codec Pro"/>
                <a:sym typeface="Codec Pro"/>
              </a:rPr>
              <a:t>24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4916" y="5227324"/>
            <a:ext cx="1387890" cy="97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1010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7675" y="6985652"/>
            <a:ext cx="1462372" cy="97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010101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419787" y="2697288"/>
            <a:ext cx="2270508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글로벌 홈트 시장 규모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46909" y="6382418"/>
            <a:ext cx="1450195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AFAFA"/>
                </a:solidFill>
                <a:latin typeface="Nanum Square"/>
                <a:ea typeface="Nanum Square"/>
                <a:cs typeface="Nanum Square"/>
                <a:sym typeface="Nanum Square"/>
              </a:rPr>
              <a:t>연평균 성장률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239951" y="4838700"/>
            <a:ext cx="2064111" cy="1699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FAFAF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18%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0914" y="1104927"/>
            <a:ext cx="7432544" cy="5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빠르게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성장하는 시장에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서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기회를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확보합니다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914" y="4397391"/>
            <a:ext cx="5419429" cy="3844200"/>
            <a:chOff x="0" y="0"/>
            <a:chExt cx="1427339" cy="10124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7339" cy="1012464"/>
            </a:xfrm>
            <a:custGeom>
              <a:avLst/>
              <a:gdLst/>
              <a:ahLst/>
              <a:cxnLst/>
              <a:rect r="r" b="b" t="t" l="l"/>
              <a:pathLst>
                <a:path h="1012464" w="1427339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27339" cy="105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96185" y="4397391"/>
            <a:ext cx="5419429" cy="3844200"/>
            <a:chOff x="0" y="0"/>
            <a:chExt cx="1427339" cy="1012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7339" cy="1012464"/>
            </a:xfrm>
            <a:custGeom>
              <a:avLst/>
              <a:gdLst/>
              <a:ahLst/>
              <a:cxnLst/>
              <a:rect r="r" b="b" t="t" l="l"/>
              <a:pathLst>
                <a:path h="1012464" w="1427339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427339" cy="105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68606" y="6648246"/>
            <a:ext cx="3656166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AI 자세 분석 + 맞춤 루틴 + 리포트 기능 제공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23877" y="6648246"/>
            <a:ext cx="1941463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프로그램당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149,000원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8606" y="6121491"/>
            <a:ext cx="1079951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월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29,000원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23877" y="6121491"/>
            <a:ext cx="2964521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전문가 협업 기반 8주 집중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프로그램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8606" y="7165477"/>
            <a:ext cx="2287691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연간 구독 전환율 38% 목표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23877" y="7165477"/>
            <a:ext cx="2594683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일반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구독 대비 객단가 5배 상승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42099" y="6615287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97371" y="6615287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342099" y="6088532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97371" y="6088532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2099" y="7142043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97371" y="7142043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9" y="0"/>
                </a:lnTo>
                <a:lnTo>
                  <a:pt x="358639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40914" y="3394372"/>
            <a:ext cx="5419429" cy="812518"/>
            <a:chOff x="0" y="0"/>
            <a:chExt cx="1250937" cy="1875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0937" cy="187549"/>
            </a:xfrm>
            <a:custGeom>
              <a:avLst/>
              <a:gdLst/>
              <a:ahLst/>
              <a:cxnLst/>
              <a:rect r="r" b="b" t="t" l="l"/>
              <a:pathLst>
                <a:path h="187549" w="1250937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06BC7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50937" cy="225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396185" y="3394372"/>
            <a:ext cx="5419429" cy="812518"/>
            <a:chOff x="0" y="0"/>
            <a:chExt cx="1250937" cy="1875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50937" cy="187549"/>
            </a:xfrm>
            <a:custGeom>
              <a:avLst/>
              <a:gdLst/>
              <a:ahLst/>
              <a:cxnLst/>
              <a:rect r="r" b="b" t="t" l="l"/>
              <a:pathLst>
                <a:path h="187549" w="1250937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06BC7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50937" cy="225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40914" y="1104927"/>
            <a:ext cx="9367715" cy="547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구독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기반 반복 수익 모델에 B2B 확장을 더한 구조입니다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9014" y="641323"/>
            <a:ext cx="2137239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Business M</a:t>
            </a: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ODEL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40873" y="3574783"/>
            <a:ext cx="1219511" cy="44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AFAF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63538" y="3574783"/>
            <a:ext cx="1284725" cy="44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AFAF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42303" y="5029078"/>
            <a:ext cx="1816650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개인 구독 모델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42818" y="5029078"/>
            <a:ext cx="2926164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프리미엄</a:t>
            </a: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재활 프로그램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51457" y="4397391"/>
            <a:ext cx="5419429" cy="3844200"/>
            <a:chOff x="0" y="0"/>
            <a:chExt cx="1427339" cy="10124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27339" cy="1012464"/>
            </a:xfrm>
            <a:custGeom>
              <a:avLst/>
              <a:gdLst/>
              <a:ahLst/>
              <a:cxnLst/>
              <a:rect r="r" b="b" t="t" l="l"/>
              <a:pathLst>
                <a:path h="1012464" w="1427339">
                  <a:moveTo>
                    <a:pt x="28571" y="0"/>
                  </a:moveTo>
                  <a:lnTo>
                    <a:pt x="1398768" y="0"/>
                  </a:lnTo>
                  <a:cubicBezTo>
                    <a:pt x="1414548" y="0"/>
                    <a:pt x="1427339" y="12792"/>
                    <a:pt x="1427339" y="28571"/>
                  </a:cubicBezTo>
                  <a:lnTo>
                    <a:pt x="1427339" y="983893"/>
                  </a:lnTo>
                  <a:cubicBezTo>
                    <a:pt x="1427339" y="991471"/>
                    <a:pt x="1424329" y="998738"/>
                    <a:pt x="1418971" y="1004096"/>
                  </a:cubicBezTo>
                  <a:cubicBezTo>
                    <a:pt x="1413613" y="1009454"/>
                    <a:pt x="1406346" y="1012464"/>
                    <a:pt x="1398768" y="1012464"/>
                  </a:cubicBezTo>
                  <a:lnTo>
                    <a:pt x="28571" y="1012464"/>
                  </a:lnTo>
                  <a:cubicBezTo>
                    <a:pt x="20993" y="1012464"/>
                    <a:pt x="13726" y="1009454"/>
                    <a:pt x="8368" y="1004096"/>
                  </a:cubicBezTo>
                  <a:cubicBezTo>
                    <a:pt x="3010" y="998738"/>
                    <a:pt x="0" y="991471"/>
                    <a:pt x="0" y="983893"/>
                  </a:cubicBezTo>
                  <a:lnTo>
                    <a:pt x="0" y="28571"/>
                  </a:lnTo>
                  <a:cubicBezTo>
                    <a:pt x="0" y="20993"/>
                    <a:pt x="3010" y="13726"/>
                    <a:pt x="8368" y="8368"/>
                  </a:cubicBezTo>
                  <a:cubicBezTo>
                    <a:pt x="13726" y="3010"/>
                    <a:pt x="20993" y="0"/>
                    <a:pt x="28571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6BC7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427339" cy="1050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079149" y="6648246"/>
            <a:ext cx="2421975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임직원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건강 관리 솔루션 제공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79149" y="6121491"/>
            <a:ext cx="1631630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기업당 월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정액 계약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079149" y="7165477"/>
            <a:ext cx="2648532" cy="273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직원</a:t>
            </a:r>
            <a:r>
              <a:rPr lang="en-US" sz="1600">
                <a:solidFill>
                  <a:srgbClr val="000000"/>
                </a:solidFill>
                <a:latin typeface="Nanum Square"/>
                <a:ea typeface="Nanum Square"/>
                <a:cs typeface="Nanum Square"/>
                <a:sym typeface="Nanum Square"/>
              </a:rPr>
              <a:t> 1인당 평균 18,000원 과금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2652643" y="6615287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8" y="0"/>
                </a:lnTo>
                <a:lnTo>
                  <a:pt x="358638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652643" y="6088532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8" y="0"/>
                </a:lnTo>
                <a:lnTo>
                  <a:pt x="358638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652643" y="7142043"/>
            <a:ext cx="358639" cy="358639"/>
          </a:xfrm>
          <a:custGeom>
            <a:avLst/>
            <a:gdLst/>
            <a:ahLst/>
            <a:cxnLst/>
            <a:rect r="r" b="b" t="t" l="l"/>
            <a:pathLst>
              <a:path h="358639" w="358639">
                <a:moveTo>
                  <a:pt x="0" y="0"/>
                </a:moveTo>
                <a:lnTo>
                  <a:pt x="358638" y="0"/>
                </a:lnTo>
                <a:lnTo>
                  <a:pt x="358638" y="358639"/>
                </a:lnTo>
                <a:lnTo>
                  <a:pt x="0" y="358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051457" y="3394372"/>
            <a:ext cx="5419429" cy="812518"/>
            <a:chOff x="0" y="0"/>
            <a:chExt cx="1250937" cy="18754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50937" cy="187549"/>
            </a:xfrm>
            <a:custGeom>
              <a:avLst/>
              <a:gdLst/>
              <a:ahLst/>
              <a:cxnLst/>
              <a:rect r="r" b="b" t="t" l="l"/>
              <a:pathLst>
                <a:path h="187549" w="1250937">
                  <a:moveTo>
                    <a:pt x="93775" y="0"/>
                  </a:moveTo>
                  <a:lnTo>
                    <a:pt x="1157163" y="0"/>
                  </a:lnTo>
                  <a:cubicBezTo>
                    <a:pt x="1182033" y="0"/>
                    <a:pt x="1205885" y="9880"/>
                    <a:pt x="1223471" y="27466"/>
                  </a:cubicBezTo>
                  <a:cubicBezTo>
                    <a:pt x="1241057" y="45052"/>
                    <a:pt x="1250937" y="68904"/>
                    <a:pt x="1250937" y="93775"/>
                  </a:cubicBezTo>
                  <a:lnTo>
                    <a:pt x="1250937" y="93775"/>
                  </a:lnTo>
                  <a:cubicBezTo>
                    <a:pt x="1250937" y="118645"/>
                    <a:pt x="1241057" y="142497"/>
                    <a:pt x="1223471" y="160083"/>
                  </a:cubicBezTo>
                  <a:cubicBezTo>
                    <a:pt x="1205885" y="177669"/>
                    <a:pt x="1182033" y="187549"/>
                    <a:pt x="1157163" y="187549"/>
                  </a:cubicBezTo>
                  <a:lnTo>
                    <a:pt x="93775" y="187549"/>
                  </a:lnTo>
                  <a:cubicBezTo>
                    <a:pt x="68904" y="187549"/>
                    <a:pt x="45052" y="177669"/>
                    <a:pt x="27466" y="160083"/>
                  </a:cubicBezTo>
                  <a:cubicBezTo>
                    <a:pt x="9880" y="142497"/>
                    <a:pt x="0" y="118645"/>
                    <a:pt x="0" y="93775"/>
                  </a:cubicBezTo>
                  <a:lnTo>
                    <a:pt x="0" y="93775"/>
                  </a:lnTo>
                  <a:cubicBezTo>
                    <a:pt x="0" y="68904"/>
                    <a:pt x="9880" y="45052"/>
                    <a:pt x="27466" y="27466"/>
                  </a:cubicBezTo>
                  <a:cubicBezTo>
                    <a:pt x="45052" y="9880"/>
                    <a:pt x="68904" y="0"/>
                    <a:pt x="93775" y="0"/>
                  </a:cubicBezTo>
                  <a:close/>
                </a:path>
              </a:pathLst>
            </a:custGeom>
            <a:solidFill>
              <a:srgbClr val="06BC7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250937" cy="225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4119621" y="3574783"/>
            <a:ext cx="1283101" cy="44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AFAFA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MODEL 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08764" y="5029078"/>
            <a:ext cx="2704816" cy="415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기업 복지</a:t>
            </a:r>
            <a:r>
              <a:rPr lang="en-US" b="true" sz="24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제휴 (B2B)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1672" y="3071037"/>
            <a:ext cx="3086100" cy="5659947"/>
            <a:chOff x="0" y="0"/>
            <a:chExt cx="812800" cy="149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1490686"/>
            </a:xfrm>
            <a:custGeom>
              <a:avLst/>
              <a:gdLst/>
              <a:ahLst/>
              <a:cxnLst/>
              <a:rect r="r" b="b" t="t" l="l"/>
              <a:pathLst>
                <a:path h="1490686" w="812800">
                  <a:moveTo>
                    <a:pt x="40138" y="0"/>
                  </a:moveTo>
                  <a:lnTo>
                    <a:pt x="772662" y="0"/>
                  </a:lnTo>
                  <a:cubicBezTo>
                    <a:pt x="794829" y="0"/>
                    <a:pt x="812800" y="17971"/>
                    <a:pt x="812800" y="40138"/>
                  </a:cubicBezTo>
                  <a:lnTo>
                    <a:pt x="812800" y="1450547"/>
                  </a:lnTo>
                  <a:cubicBezTo>
                    <a:pt x="812800" y="1461193"/>
                    <a:pt x="808571" y="1471402"/>
                    <a:pt x="801044" y="1478929"/>
                  </a:cubicBezTo>
                  <a:cubicBezTo>
                    <a:pt x="793516" y="1486457"/>
                    <a:pt x="783307" y="1490686"/>
                    <a:pt x="772662" y="1490686"/>
                  </a:cubicBezTo>
                  <a:lnTo>
                    <a:pt x="40138" y="1490686"/>
                  </a:lnTo>
                  <a:cubicBezTo>
                    <a:pt x="17971" y="1490686"/>
                    <a:pt x="0" y="1472715"/>
                    <a:pt x="0" y="1450547"/>
                  </a:cubicBezTo>
                  <a:lnTo>
                    <a:pt x="0" y="40138"/>
                  </a:lnTo>
                  <a:cubicBezTo>
                    <a:pt x="0" y="17971"/>
                    <a:pt x="17971" y="0"/>
                    <a:pt x="40138" y="0"/>
                  </a:cubicBezTo>
                  <a:close/>
                </a:path>
              </a:pathLst>
            </a:custGeom>
            <a:solidFill>
              <a:srgbClr val="DAF4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1528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28700" y="2357120"/>
          <a:ext cx="16211550" cy="6298022"/>
        </p:xfrm>
        <a:graphic>
          <a:graphicData uri="http://schemas.openxmlformats.org/drawingml/2006/table">
            <a:tbl>
              <a:tblPr/>
              <a:tblGrid>
                <a:gridCol w="3209717"/>
                <a:gridCol w="4333944"/>
                <a:gridCol w="4333944"/>
                <a:gridCol w="4333944"/>
              </a:tblGrid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larana fit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A사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B사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실시간 AI 자세 분석 엔진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통증 데이터 기반 맞춤 알고리즘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데이터 축적에 따른 학습 고도화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반복 수익 중심 구독 구조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B2C–B2B 확장 가능성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높은 유지율 설계 시스템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72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 b="true">
                          <a:solidFill>
                            <a:srgbClr val="000000"/>
                          </a:solidFill>
                          <a:latin typeface="Nanum Square Ultra-Bold"/>
                          <a:ea typeface="Nanum Square Ultra-Bold"/>
                          <a:cs typeface="Nanum Square Ultra-Bold"/>
                          <a:sym typeface="Nanum Square Ultra-Bold"/>
                        </a:rPr>
                        <a:t>전문 재활 콘텐츠 협업 네트워크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1010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9D9D9D"/>
                          </a:solidFill>
                          <a:latin typeface="Codec Pro Bold"/>
                          <a:ea typeface="Codec Pro Bold"/>
                          <a:cs typeface="Codec Pro Bold"/>
                          <a:sym typeface="Codec Pro Bold"/>
                        </a:rPr>
                        <a:t>X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b="true" sz="1999">
                          <a:solidFill>
                            <a:srgbClr val="06BC70"/>
                          </a:solidFill>
                          <a:latin typeface="Codec Pro Heavy"/>
                          <a:ea typeface="Codec Pro Heavy"/>
                          <a:cs typeface="Codec Pro Heavy"/>
                          <a:sym typeface="Codec Pro Heavy"/>
                        </a:rPr>
                        <a:t>O</a:t>
                      </a:r>
                      <a:endParaRPr lang="en-US" sz="1100"/>
                    </a:p>
                  </a:txBody>
                  <a:tcPr marL="123825" marR="123825" marT="123825" marB="123825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6BC7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740914" y="1104927"/>
            <a:ext cx="6591395" cy="110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데이터와</a:t>
            </a:r>
            <a:r>
              <a:rPr lang="en-US" b="true" sz="3200" strike="noStrike" u="none">
                <a:solidFill>
                  <a:srgbClr val="00000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 알고리즘으로 차이를 만듭니다</a:t>
            </a:r>
          </a:p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79014" y="641323"/>
            <a:ext cx="3179577" cy="387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Competitive A</a:t>
            </a:r>
            <a:r>
              <a:rPr lang="en-US" b="true" sz="2000">
                <a:solidFill>
                  <a:srgbClr val="06BC7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DVANTAGE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1010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4425" y="8191473"/>
            <a:ext cx="8199144" cy="106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6BC70"/>
                </a:solidFill>
                <a:latin typeface="Nanum Square Ultra-Bold"/>
                <a:ea typeface="Nanum Square Ultra-Bold"/>
                <a:cs typeface="Nanum Square Ultra-Bold"/>
                <a:sym typeface="Nanum Square Ultra-Bold"/>
              </a:rPr>
              <a:t>운동을 감이 아닌 데이터로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825281" y="7960657"/>
            <a:ext cx="1864207" cy="30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6BC70"/>
                </a:solidFill>
                <a:latin typeface="Codec Pro"/>
                <a:ea typeface="Codec Pro"/>
                <a:cs typeface="Codec Pro"/>
                <a:sym typeface="Codec Pro"/>
              </a:rPr>
              <a:t>reallygreatsite.com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25281" y="8379188"/>
            <a:ext cx="2511204" cy="30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hello@</a:t>
            </a:r>
            <a:r>
              <a:rPr lang="en-US" sz="16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reallygreatsite.com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25281" y="8797719"/>
            <a:ext cx="3348294" cy="30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123 An</a:t>
            </a:r>
            <a:r>
              <a:rPr lang="en-US" sz="1600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ywhere St., Any City, ST 12345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1575" y="7625067"/>
            <a:ext cx="1762801" cy="594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sz="3200" strike="noStrike" u="none">
                <a:solidFill>
                  <a:srgbClr val="06BC70"/>
                </a:solidFill>
                <a:latin typeface="Codec Pro Light"/>
                <a:ea typeface="Codec Pro Light"/>
                <a:cs typeface="Codec Pro Light"/>
                <a:sym typeface="Codec Pro Light"/>
              </a:rPr>
              <a:t>larana 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DAHLaLhjYro</dc:identifier>
  <dcterms:modified xsi:type="dcterms:W3CDTF">2011-08-01T06:04:30Z</dcterms:modified>
  <cp:revision>1</cp:revision>
  <dc:title>그린 화이트 깔끔한 스타트업 투자 제안서 프레젠테이션</dc:title>
</cp:coreProperties>
</file>